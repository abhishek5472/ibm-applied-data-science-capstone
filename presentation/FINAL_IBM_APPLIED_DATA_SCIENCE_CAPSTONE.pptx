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4CDE6"/>
                </a:solidFill>
                <a:latin typeface="Aptos"/>
              </a:rPr>
              <a:t>IBM Applied Data Science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8961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Winning Space Race</a:t>
            </a:r>
            <a:br/>
            <a:r>
              <a:t>with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546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D2DCEB"/>
                </a:solidFill>
                <a:latin typeface="Aptos"/>
              </a:rPr>
              <a:t>Falcon 9 First-Stage Landing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22191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ED7"/>
                </a:solidFill>
                <a:latin typeface="Aptos"/>
              </a:rPr>
              <a:t>Data collection • EDA • SQL • Folium • Plotly Dash •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Abhishek Kulkarni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4CDE6"/>
                </a:solidFill>
                <a:latin typeface="Aptos"/>
              </a:rPr>
              <a:t>Final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04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Launch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0136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3172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Falcon 9 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32588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4904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Landing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80136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66.7%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33172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60 successful / 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32588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4904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Top launch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180136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KSC LC 39A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33172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77.3% success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490472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Best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180136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67E22"/>
                </a:solidFill>
                <a:latin typeface="Aptos"/>
              </a:rPr>
              <a:t>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33172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87.5% CV / 83.3%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5468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Collected launch data through the SpaceX REST API and web-scraped launch records.</a:t>
            </a:r>
          </a:p>
          <a:p>
            <a:r>
              <a:t>• Cleaned the data, handled missing values, and engineered a binary landing-success Class label.</a:t>
            </a:r>
          </a:p>
          <a:p>
            <a:r>
              <a:t>• Used Python visualization and SQL to identify relationships among flight number, payload, launch site and orbit.</a:t>
            </a:r>
          </a:p>
          <a:p>
            <a:r>
              <a:t>• Added interactive analytics with Folium and Plotly Dash, then compared four tuned classification models.</a:t>
            </a:r>
          </a:p>
          <a:p>
            <a:r>
              <a:t>• Landing success increased strongly with flight experience; the Decision Tree led cross-validation (87.50%) with all four models achieving 83.33% test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Introduction &amp;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5696"/>
                </a:solidFill>
                <a:latin typeface="Aptos"/>
              </a:rPr>
              <a:t>Why landing prediction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Falcon 9 reusability is a major contributor to SpaceX's lower launch economics.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A competing launch provider needs to estimate recovery probability before bidding on a mission.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The analytical question: given launch characteristics, can we predict whether the first stage will land successfully?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5696"/>
                </a:solidFill>
                <a:latin typeface="Aptos"/>
              </a:rPr>
              <a:t>Questions addressed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How does landing success change with flight number?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Which launch sites and orbit types have higher success rates?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Does payload mass show a meaningful relationship with recovery?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Which classification model performs best?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End-to-End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9164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C2D"/>
                </a:solidFill>
                <a:latin typeface="Aptos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SpaceX REST API</a:t>
            </a:r>
            <a:br/>
            <a:r>
              <a:t>+ web scraping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828800"/>
            <a:ext cx="169164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23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C2D"/>
                </a:solidFill>
                <a:latin typeface="Aptos"/>
              </a:rPr>
              <a:t>Wrangle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260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Clean, filter,</a:t>
            </a:r>
            <a:br/>
            <a:r>
              <a:t>engineer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169164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23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C2D"/>
                </a:solidFill>
                <a:latin typeface="Aptos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Pandas/Matplotlib</a:t>
            </a:r>
            <a:br/>
            <a:r>
              <a:t>+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169164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C2D"/>
                </a:solidFill>
                <a:latin typeface="Aptos"/>
              </a:rPr>
              <a:t>Visualize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Folium</a:t>
            </a:r>
            <a:br/>
            <a:r>
              <a:t>+ Plotly Dash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828800"/>
            <a:ext cx="169164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23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C2D"/>
                </a:solidFill>
                <a:latin typeface="Aptos"/>
              </a:rP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LR • SVM</a:t>
            </a:r>
            <a:br/>
            <a:r>
              <a:t>• Tree • KNN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828800"/>
            <a:ext cx="169164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8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423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C2D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92608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Compare metrics</a:t>
            </a:r>
            <a:br/>
            <a:r>
              <a:t>&amp; select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C2D"/>
                </a:solidFill>
                <a:latin typeface="Aptos"/>
              </a:rPr>
              <a:t>Output: a stakeholder-oriented prediction of Falcon 9 first-stage landing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Data Collection — SpaceX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5696"/>
                </a:solidFill>
                <a:latin typeface="Aptos"/>
              </a:rPr>
              <a:t>API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GET historical launch records from the SpaceX REST API.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Normalize nested JSON into a pandas DataFrame.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Filter to Falcon 9 launches and enrich launch-site, payload and booster fields.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Standardize missing payload values for downstream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109728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2A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C2D"/>
                </a:solidFill>
                <a:latin typeface="Aptos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REST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28800"/>
            <a:ext cx="109728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2A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057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C2D"/>
                </a:solidFill>
                <a:latin typeface="Aptos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nested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828800"/>
            <a:ext cx="109728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2A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057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C2D"/>
                </a:solidFill>
                <a:latin typeface="Aptos"/>
              </a:rPr>
              <a:t>DataFrame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json_normalize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2408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69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1828800"/>
            <a:ext cx="109728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2A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2057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C2D"/>
                </a:solidFill>
                <a:latin typeface="Aptos"/>
              </a:rPr>
              <a:t>Falcon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filter + enrich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Resulting analysis table: 90 Falcon 9 launch records × 17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Data Collection — 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5696"/>
                </a:solidFill>
                <a:latin typeface="Aptos"/>
              </a:rPr>
              <a:t>Wikipedia launch-record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Retrieve the Falcon 9 launch-history table from Wikipedia.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Parse HTML tables with Requests and BeautifulSoup.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Normalize column headers, dates, payload units and landing-outcome labels.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Use the scraped records to complement and validate API-derived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74519"/>
            <a:ext cx="1024128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05740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C2D"/>
                </a:solidFill>
                <a:latin typeface="Aptos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487168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launch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286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A69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74519"/>
            <a:ext cx="1024128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05740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C2D"/>
                </a:solidFill>
                <a:latin typeface="Aptos"/>
              </a:rPr>
              <a:t>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87168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BeautifulSoup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2286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A69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74519"/>
            <a:ext cx="1024128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05740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C2D"/>
                </a:solidFill>
                <a:latin typeface="Aptos"/>
              </a:rP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487168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headers +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2286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A69A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874519"/>
            <a:ext cx="1024128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205740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C2D"/>
                </a:solidFill>
                <a:latin typeface="Aptos"/>
              </a:rPr>
              <a:t>Merge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487168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E"/>
                </a:solidFill>
                <a:latin typeface="Aptos"/>
              </a:rPr>
              <a:t>analysis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Complementary sources reduce gaps and provide a richer launch-history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Data Wrangling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Filtered the launch history to Falcon 9 missions.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Reviewed missing values; LandingPad contains the principal missingness in the course dataset.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Created the binary Class target: 1 = successful first-stage landing, 0 = unsuccessful / no recovery.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Prepared numerical and categorical predictors for machine-learning models using feature selection and encoding.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Final modeling dataset retains 90 observations with a 66.67% positive landing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1828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673351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98424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1460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Falcon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508760"/>
            <a:ext cx="1828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673351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0072" y="198424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6A69A"/>
                </a:solidFill>
                <a:latin typeface="Aptos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51460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Class =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063240"/>
            <a:ext cx="1828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22783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53872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67E22"/>
                </a:solidFill>
                <a:latin typeface="Aptos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406908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Class =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3063240"/>
            <a:ext cx="1828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322783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353872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66.7%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406908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landing success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Flight Number vs.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CCAFS SLC 40 dominates the launch history across the full timeline.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KSC LC 39A enters later and becomes a major site.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Early flight numbers contain more failures; later flights cluster strongly toward successful landings.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709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Aptos"/>
              </a:rPr>
              <a:t>EDA objective: identify variables and patterns that are useful for prediction and business interpretation.</a:t>
            </a:r>
          </a:p>
        </p:txBody>
      </p:sp>
      <p:pic>
        <p:nvPicPr>
          <p:cNvPr id="9" name="Picture 8" descr="eda_1_flight_launch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6675120" cy="3560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Payload Mass vs.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CCAFS SLC 40 and KSC LC 39A support a broad payload range.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VAFB SLC 4E appears less frequently and is concentrated in lighter/specialized missions.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High payload mass alone does not prevent successful recovery in later 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709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Aptos"/>
              </a:rPr>
              <a:t>EDA objective: identify variables and patterns that are useful for prediction and business interpretation.</a:t>
            </a:r>
          </a:p>
        </p:txBody>
      </p:sp>
      <p:pic>
        <p:nvPicPr>
          <p:cNvPr id="9" name="Picture 8" descr="eda_2_payload_launch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6675120" cy="3560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Success Rate vs. Orbit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VLEO reaches 85.7% across 14 missions.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SSO, GEO, ES-L1 and HEO show 100% in this dataset, but each has very few observations.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GTO is the most common orbit and has the lowest success rate among the major mission groups at 51.9%.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709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Aptos"/>
              </a:rPr>
              <a:t>EDA objective: identify variables and patterns that are useful for prediction and business interpretation.</a:t>
            </a:r>
          </a:p>
        </p:txBody>
      </p:sp>
      <p:pic>
        <p:nvPicPr>
          <p:cNvPr id="9" name="Picture 8" descr="eda_3_succes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667512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Flight Number vs. Orbit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GTO and ISS are concentrated throughout the middle of the program.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VLEO appears mainly in later flight numbers and is associated with high recovery success.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Specialized orbits such as GEO, HEO and SO occur only rarely.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709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Aptos"/>
              </a:rPr>
              <a:t>EDA objective: identify variables and patterns that are useful for prediction and business interpretation.</a:t>
            </a:r>
          </a:p>
        </p:txBody>
      </p:sp>
      <p:pic>
        <p:nvPicPr>
          <p:cNvPr id="9" name="Picture 8" descr="eda_4_flight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6675120" cy="3560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Payload Mass vs. Orbit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Orbit type strongly constrains payload ranges.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VLEO missions carry some of the heaviest payloads in the dataset while maintaining high recovery rates.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Outcome patterns become more favorable as flight experience increases.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709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Aptos"/>
              </a:rPr>
              <a:t>EDA objective: identify variables and patterns that are useful for prediction and business interpretation.</a:t>
            </a:r>
          </a:p>
        </p:txBody>
      </p:sp>
      <p:pic>
        <p:nvPicPr>
          <p:cNvPr id="9" name="Picture 8" descr="eda_5_payload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667512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Launch Success Yearly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Success rises from 0% in the earliest years to more than 80% in 2017 and later.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The 2019–2020 period remains above 80% in this dataset.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The trend is consistent with improving booster-recovery maturity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709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Aptos"/>
              </a:rPr>
              <a:t>EDA objective: identify variables and patterns that are useful for prediction and business interpretation.</a:t>
            </a:r>
          </a:p>
        </p:txBody>
      </p:sp>
      <p:pic>
        <p:nvPicPr>
          <p:cNvPr id="9" name="Picture 8" descr="eda_6_year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6675120" cy="35600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EDA with SQL — Key Query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7432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3619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Unique launch-site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47088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77440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CCA... LC-40 / SLC-40, KSC LC-39A, VAFB SLC-4E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7432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53619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NASA (CRS) payload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847088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45,596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377440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SUM(payload_mass__kg_)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371600"/>
            <a:ext cx="27432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153619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F9 v1.1 average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1847088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2,928.4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377440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Exact F9 v1.1 (2,534.7 kg with sub-variants)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371600"/>
            <a:ext cx="20574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153619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First ground-pad 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1847088"/>
            <a:ext cx="1728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2015-12-22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2377440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MIN(Date)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5696"/>
                </a:solidFill>
                <a:latin typeface="Aptos"/>
              </a:rPr>
              <a:t>Representative SQL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4903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Exact F9 v1.1 (2,534.7 kg with sub-variants)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INTERACTIVE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Interactive Map — Folium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50876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Mapped the three canonical launch locations using latitude and longitude.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Launch records can be grouped by site and visually inspected for outcome patterns.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Geospatial analysis highlights how launch infrastructure is concentrated on coastal sites.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The interactive Folium notebook supports marker popups, clustering and site-level exploration.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9834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E"/>
                </a:solidFill>
                <a:latin typeface="Aptos"/>
              </a:rPr>
              <a:t>Report view shown above; the course activity uses an interactive Folium map.</a:t>
            </a:r>
          </a:p>
        </p:txBody>
      </p:sp>
      <p:pic>
        <p:nvPicPr>
          <p:cNvPr id="9" name="Picture 8" descr="folium_selected_site_proxim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8580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INTERACTIVE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Interactive Dashboard — Plotly Dash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55448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Launch-site selector allows site-level comparison.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Payload range filtering isolates light, medium and heavy missions.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Dynamic charts connect payload mass, flight number and landing outcome.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Dashboard converts the notebook analysis into a stakeholder-friendly exploration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892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E"/>
                </a:solidFill>
                <a:latin typeface="Aptos"/>
              </a:rPr>
              <a:t>Dashboard result view • filters are designed for non-technical stakeholders.</a:t>
            </a:r>
          </a:p>
        </p:txBody>
      </p:sp>
      <p:pic>
        <p:nvPicPr>
          <p:cNvPr id="9" name="Picture 8" descr="dash_1_all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7040880" cy="39389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Predictive Analysis — Classification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148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9748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Encode categorical variables</a:t>
            </a:r>
            <a:br/>
            <a:r>
              <a:t>and standardize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828800"/>
            <a:ext cx="20116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2148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69748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80% training / 20% test</a:t>
            </a:r>
            <a:br/>
            <a:r>
              <a:t>hold-out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1828800"/>
            <a:ext cx="20116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148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69748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GridSearchCV with</a:t>
            </a:r>
            <a:br/>
            <a:r>
              <a:t>10-fold cross-validation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1828800"/>
            <a:ext cx="20116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2148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69748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Accuracy + confusion</a:t>
            </a:r>
            <a:br/>
            <a:r>
              <a:t>matrix / classification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20072" y="1828800"/>
            <a:ext cx="20116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148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6376" y="269748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E"/>
                </a:solidFill>
                <a:latin typeface="Aptos"/>
              </a:rPr>
              <a:t>Choose the strongest</a:t>
            </a:r>
            <a:br/>
            <a:r>
              <a:t>performing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C2D"/>
                </a:solidFill>
                <a:latin typeface="Aptos"/>
              </a:rPr>
              <a:t>Models: Logistic Regression • Support Vector Machine • Decision Tree • K-Nearest Neighbors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PREDICTIVE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Predictive Analysis —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73351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83.3%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1460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73351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8424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83.3%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1460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test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673351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98424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83.3%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51460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test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508760"/>
            <a:ext cx="2331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1673351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KNN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984248"/>
            <a:ext cx="2002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83.3%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514600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7E"/>
                </a:solidFill>
                <a:latin typeface="Aptos"/>
              </a:rPr>
              <a:t>test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Decision Tree achieved the highest cross-validation score (87.50%).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43400"/>
            <a:ext cx="9784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All four tuned classifiers achieved 83.33% test accuracy (15 of 18 test observations correct).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 — PREDICTIVE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Best Model — Decision Tree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41732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33872" y="15819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True negatives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1892808"/>
            <a:ext cx="1728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2423160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58191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True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892808"/>
            <a:ext cx="1728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6A69A"/>
                </a:solidFill>
                <a:latin typeface="Aptos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2423160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97180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13639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False 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3447288"/>
            <a:ext cx="1728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5696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3977639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97180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3136392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Aptos"/>
              </a:rPr>
              <a:t>False negatives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3447288"/>
            <a:ext cx="1728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67E22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3977639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5696"/>
                </a:solidFill>
                <a:latin typeface="Aptos"/>
              </a:rP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5074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model correctly classified 15 of 18 test cases (83.33% accuracy) with zero false negatives (100% recall on successful landings).</a:t>
            </a:r>
          </a:p>
        </p:txBody>
      </p:sp>
      <p:pic>
        <p:nvPicPr>
          <p:cNvPr id="25" name="Picture 2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43891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Experience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258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Landing success rises sharply with flight number; later missions show much stronger recovery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Site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860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KSC LC 39A has the highest success rate among the three canonical sites: 77.3%.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Orbit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461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VLEO is the most common late-period orbit and shows 85.7% success; GTO is common but lower at 51.9%.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Payload is not a simple penalty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2062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Heavy payload missions can still land successfully, especially in later reusable-booster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5696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C2D"/>
                </a:solidFill>
                <a:latin typeface="Aptos"/>
              </a:rPr>
              <a:t>Prediction is feasible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1663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A tuned Decision Tree reaches 88.9% test accuracy on the course evaluation.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Conclusion &amp; Stakeholder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Historical evidence shows a strong improvement in first-stage recovery success as SpaceX's Falcon 9 program matured.</a:t>
            </a:r>
          </a:p>
          <a:p>
            <a:r>
              <a:t>• Launch site, orbit type, payload profile and flight experience provide useful signals for recovery prediction.</a:t>
            </a:r>
          </a:p>
          <a:p>
            <a:r>
              <a:t>• Interactive mapping and dashboarding make the findings accessible to non-technical stakeholders.</a:t>
            </a:r>
          </a:p>
          <a:p>
            <a:r>
              <a:t>• The Decision Tree was the best-performing classifier in the evaluated model set, leading cross-validation at 87.50% and all four models achieving 83.33% test accuracy.</a:t>
            </a:r>
          </a:p>
          <a:p>
            <a:r>
              <a:t>• For a competing launch provider, a landing-probability estimate can support more informed bid pricing and launch-cost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A5696"/>
                </a:solidFill>
                <a:latin typeface="Aptos"/>
              </a:rPr>
              <a:t>Final takeaway: recovery is increasingly predictable from mission characteristics.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B7E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C2D"/>
                </a:solidFill>
                <a:latin typeface="Aptos"/>
              </a:rPr>
              <a:t>Appendix — Deliverables &amp;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E"/>
                </a:solidFill>
                <a:latin typeface="Aptos"/>
              </a:rPr>
              <a:t>IBM Applied Data Science Capstone • Falcon 9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5696"/>
                </a:solidFill>
                <a:latin typeface="Aptos"/>
              </a:rPr>
              <a:t>Expected project repository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Data Collection API notebook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Web Scraping notebook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Data Wrangling notebook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EDA with Visualization notebook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EDA with SQL notebook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Folium notebook / HTML output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Plotly Dash Python application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Predictive Analysis notebook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Dataset CSV files and README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5696"/>
                </a:solidFill>
                <a:latin typeface="Aptos"/>
              </a:rPr>
              <a:t>Repository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https://github.com/Abhishek5472/IBM-Applied-Data-Science-Capstone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5696"/>
                </a:solidFill>
                <a:latin typeface="Aptos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337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IBM / Coursera Applied Data Science Capstone course materials and template.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SpaceX public REST API launch records.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Wikipedia Falcon 9 launch-history table used for web-scraping methodology.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Course-standard 90-record Falcon 9 analysis dataset and associated lab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